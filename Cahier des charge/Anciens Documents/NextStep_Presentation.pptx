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457200"/>
            <a:ext cx="2194560" cy="2194560"/>
          </a:xfrm>
          <a:prstGeom prst="ellipse">
            <a:avLst/>
          </a:prstGeom>
          <a:solidFill>
            <a:srgbClr val="14B8A6">
              <a:alpha val="25000"/>
            </a:srgbClr>
          </a:solidFill>
          <a:ln w="12700">
            <a:solidFill>
              <a:srgbClr val="14B8A6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54864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96012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NEXTSTEP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411480" y="184708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d'Orientation Scolaire &amp; Professionnelle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411480" y="2468880"/>
            <a:ext cx="34747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265176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"Ton avenir commence ici 🚀"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11480" y="41605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: Laurent MASSOYA &amp; Ndeye Awa NIANE  |  L2 SID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RÉSUMÉ DU PROJET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idée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225296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NextStep est une plateforme digitale dédiée à l'orientation scolaire et professionnelle des jeunes, notamment après le baccalauréat, visant à réduire les erreurs d'orientation.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28600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solution propose 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651760"/>
            <a:ext cx="41605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71576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Tests d'orientation personnalisés (RIASEC)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163824"/>
            <a:ext cx="41605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322783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Informations complètes sur les métiers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675888"/>
            <a:ext cx="41605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73989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Accompagnement via des conseillers certifiés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84124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aujourd'hui :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1234440"/>
            <a:ext cx="416052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130759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Erreurs de parcours fréquentes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801368"/>
            <a:ext cx="416052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187452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Changements de filière coûteux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368296"/>
            <a:ext cx="416052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92040" y="2441448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Perte de temps &amp; d'argent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935224"/>
            <a:ext cx="416052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300837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Manque de motivation &amp; d'objectifs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qui ? Élèves · Nouveaux bacheliers · Étudiants en réorientation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LE PROJET — Nature &amp; Cibles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web &amp; mobile avec espace élève et espace spécialiste.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023360" cy="141732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— Sénégal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6642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Manque d'orientation structurée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9842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Peu de conseillers disponibles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3042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Informations dispersées &amp; peu fiables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09160" y="118872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Cibles principales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554480"/>
            <a:ext cx="416052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61848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Élèves de lycée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1956816"/>
            <a:ext cx="416052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202082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Nouveaux bacheliers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359152"/>
            <a:ext cx="416052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242316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Étudiants universitaires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2761488"/>
            <a:ext cx="416052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282549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Jeunes en réorientation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281635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Cibles secondaires 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145536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· Écoles &amp; Lycées · Universités · Conseillers pédagogiques · Ministère de l'Enseignement Supérieur du Sénégal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749040"/>
            <a:ext cx="841248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38587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plateforme intelligente d'orientation scolaire et professionnelle pour les jeunes africains."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SWOT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14800" cy="1920240"/>
          </a:xfrm>
          <a:prstGeom prst="rect">
            <a:avLst/>
          </a:prstGeom>
          <a:solidFill>
            <a:srgbClr val="DCFCE7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96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28016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Solution digitale innovante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61848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Accessible via smartphone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95681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Impact social significatif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29514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Coût de lancement faible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804672"/>
            <a:ext cx="4114800" cy="1920240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896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FAIBLESSES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28016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Manque de notoriété initial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61848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Ressources financières limitées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95681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Dépendance à internet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29514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Difficulté à gagner la confiance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4114800" cy="192024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29260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OPPORTUNITÉS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331012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Forte population jeune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36484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Peu de solutions existantes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98678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Partenariats écoles/universités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432511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Développement du e-learning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2834640"/>
            <a:ext cx="4114800" cy="1920240"/>
          </a:xfrm>
          <a:prstGeom prst="rect">
            <a:avLst/>
          </a:prstGeom>
          <a:solidFill>
            <a:srgbClr val="FEF9C3"/>
          </a:solidFill>
          <a:ln w="25400">
            <a:solidFill>
              <a:srgbClr val="CA8A0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29260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MENACES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331012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Accès limité à internet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36484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Résistance au changement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98678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Concurrence CAMPUSEN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432511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Manque de confiance digitale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MARCHÉ — 100 répondants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60520" cy="111556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932688"/>
            <a:ext cx="1051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508760" y="91440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N'ont jamais reçu d'orientation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08760" y="138988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 11% en ont bénéficié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2084832"/>
            <a:ext cx="4160520" cy="1115568"/>
          </a:xfrm>
          <a:prstGeom prst="rect">
            <a:avLst/>
          </a:prstGeom>
          <a:solidFill>
            <a:srgbClr val="EDE9FE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2194560"/>
            <a:ext cx="1051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508760" y="2176272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Manquaient d'informations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08760" y="265176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 NON + 33% PAS VRAIMENT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3346704"/>
            <a:ext cx="4160520" cy="1115568"/>
          </a:xfrm>
          <a:prstGeom prst="rect">
            <a:avLst/>
          </a:prstGeom>
          <a:solidFill>
            <a:srgbClr val="FFEDD5"/>
          </a:solidFill>
          <a:ln w="25400">
            <a:solidFill>
              <a:srgbClr val="EA580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048" y="3456432"/>
            <a:ext cx="1051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508760" y="3438144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N'étaient pas sûrs de leur choix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08760" y="391363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 pas sûr + 33% pas totalement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822960"/>
            <a:ext cx="4160520" cy="1115568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64608" y="932688"/>
            <a:ext cx="1051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989320" y="91440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Jugent le manque d'orientation grave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89320" y="138988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Unanimité absolue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084832"/>
            <a:ext cx="4160520" cy="1115568"/>
          </a:xfrm>
          <a:prstGeom prst="rect">
            <a:avLst/>
          </a:prstGeom>
          <a:solidFill>
            <a:srgbClr val="DCFCE7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64608" y="2194560"/>
            <a:ext cx="1051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5989320" y="2176272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Intéressés par NextStep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89320" y="265176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utilisateurs potentielle massive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286 000 étudiants au Sénégal en 2024 · +60 000 nouveaux bacheliers par an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TECHNIQUE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60520" cy="1261872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24712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89611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RIASEC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60120" y="1307592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 Hollandais : Réaliste, Investigateur, Artistique, Social, Entrepreneur, Conventionnel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804672"/>
            <a:ext cx="4160520" cy="1261872"/>
          </a:xfrm>
          <a:prstGeom prst="rect">
            <a:avLst/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124712"/>
            <a:ext cx="438912" cy="438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89611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Fiches Métiers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440680" y="1307592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Description, salaire, débouchés, études nécessaires pour chaque métier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74320" y="2221992"/>
            <a:ext cx="4160520" cy="1261872"/>
          </a:xfrm>
          <a:prstGeom prst="rect">
            <a:avLst/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42032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231343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Séances Conseillers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960120" y="2724912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 en ligne avec des conseillers d'orientation certifiés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54880" y="2221992"/>
            <a:ext cx="4160520" cy="1261872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542032"/>
            <a:ext cx="438912" cy="4389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40680" y="231343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Filières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440680" y="2724912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des formations disponibles et suggestions d'universités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274320" y="3639312"/>
            <a:ext cx="4160520" cy="1261872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959352"/>
            <a:ext cx="438912" cy="43891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60120" y="373075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Témoignages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960120" y="4142232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Étudiants et professionnels partagent leurs expériences réelles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754880" y="3639312"/>
            <a:ext cx="4160520" cy="1261872"/>
          </a:xfrm>
          <a:prstGeom prst="rect">
            <a:avLst/>
          </a:prstGeom>
          <a:solidFill>
            <a:srgbClr val="FEF9C3"/>
          </a:solidFill>
          <a:ln w="19050">
            <a:solidFill>
              <a:srgbClr val="CA8A0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959352"/>
            <a:ext cx="438912" cy="43891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440680" y="373075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 &amp; Progression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5440680" y="4142232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Gamification, historique des tests et suivi personnalisé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DE MISE EN ŒUVRE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737360" y="1901952"/>
            <a:ext cx="256032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41248"/>
            <a:ext cx="1508760" cy="274320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960120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78408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" y="1664208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du besoin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35915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mois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93008" y="1901952"/>
            <a:ext cx="256032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84248" y="841248"/>
            <a:ext cx="1508760" cy="2743200"/>
          </a:xfrm>
          <a:prstGeom prst="rect">
            <a:avLst/>
          </a:prstGeom>
          <a:solidFill>
            <a:srgbClr val="EDE9FE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41448" y="960120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41448" y="978408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75688" y="1664208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75688" y="235915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semaines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248656" y="1901952"/>
            <a:ext cx="256032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39896" y="841248"/>
            <a:ext cx="1508760" cy="2743200"/>
          </a:xfrm>
          <a:prstGeom prst="rect">
            <a:avLst/>
          </a:prstGeom>
          <a:solidFill>
            <a:srgbClr val="FFEDD5"/>
          </a:solidFill>
          <a:ln w="25400">
            <a:solidFill>
              <a:srgbClr val="EA580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97096" y="960120"/>
            <a:ext cx="594360" cy="5943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97096" y="978408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31336" y="1664208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utilisateur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31336" y="235915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mois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004304" y="1901952"/>
            <a:ext cx="256032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95544" y="841248"/>
            <a:ext cx="1508760" cy="274320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52744" y="960120"/>
            <a:ext cx="594360" cy="5943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52744" y="978408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86984" y="1664208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86984" y="235915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mois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251192" y="841248"/>
            <a:ext cx="1508760" cy="2743200"/>
          </a:xfrm>
          <a:prstGeom prst="rect">
            <a:avLst/>
          </a:prstGeom>
          <a:solidFill>
            <a:srgbClr val="DCFCE7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08392" y="960120"/>
            <a:ext cx="594360" cy="5943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08392" y="978408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342632" y="1664208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42632" y="235915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mois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65760" y="376732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Modalités de mise en œuvre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65760" y="41513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Accès à internet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5760" y="447141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Savoir-faire techniques (développement &amp; coaching)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5760" y="479145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Budget de démarrage (fonds propres)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MARKETING — Les 4P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60520" cy="1993392"/>
          </a:xfrm>
          <a:prstGeom prst="rect">
            <a:avLst/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144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89611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135331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Interface moderne &amp; simple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69164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Compatible mobile &amp; web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2029968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Modèle RIASEC scientifique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236829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Données adaptées au Sénégal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09160" y="804672"/>
            <a:ext cx="4160520" cy="1993392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9144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89611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(Freemium)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892040" y="135331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 RIASEC basique GRATUIT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892040" y="169164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Premium : 2 000–5 000 FCFA/mois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892040" y="2029968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Coaching personnalisé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892040" y="236829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Accès complet aux carrières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274320" y="2953512"/>
            <a:ext cx="4160520" cy="1993392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06324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68680" y="304495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57200" y="350215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 mobile + site web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57200" y="384048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Play Store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57200" y="4178808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Réseaux sociaux &amp; WhatsApp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457200" y="451713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Écoles, lycées, universités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709160" y="2953512"/>
            <a:ext cx="4160520" cy="1993392"/>
          </a:xfrm>
          <a:prstGeom prst="rect">
            <a:avLst/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06324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303520" y="304495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892040" y="350215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TikTok · Instagram · LinkedIn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4892040" y="384048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Vidéos éducatives &amp; conseils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4892040" y="4178808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Interventions dans les écoles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892040" y="451713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Partenariats influenceurs éducatifs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INVESTISSEMENT &amp; FINANCEMENT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du projet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384048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435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+ Conseiller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26080" y="12435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400 000 FCFA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609344"/>
            <a:ext cx="41148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642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0" y="16642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20 000 FCFA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029968"/>
            <a:ext cx="4114800" cy="384048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0848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20848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500 000 FCFA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450592"/>
            <a:ext cx="41148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50545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Déplacements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26080" y="25054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80 000 FCFA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871216"/>
            <a:ext cx="4114800" cy="384048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9260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Imprévus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26080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50 000 FCFA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310128"/>
            <a:ext cx="4114800" cy="438912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3832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331720" y="338328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1 050 000 FCFA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09160" y="80467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de financement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1207008"/>
            <a:ext cx="4160520" cy="65836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1280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Apport personnel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15179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4,76%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83680" y="138988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50 000 FCFA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09160" y="1956816"/>
            <a:ext cx="4160520" cy="658368"/>
          </a:xfrm>
          <a:prstGeom prst="rect">
            <a:avLst/>
          </a:prstGeom>
          <a:solidFill>
            <a:srgbClr val="EDE9FE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46320" y="20299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demandé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22677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95,24%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83680" y="213969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1 000 000 FCFA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09160" y="281635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Remboursement — Prêt 5 ans, taux 10%, amortissement constant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3163824"/>
            <a:ext cx="786384" cy="27432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36592" y="318211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513832" y="3163824"/>
            <a:ext cx="786384" cy="27432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41264" y="318211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318504" y="3163824"/>
            <a:ext cx="786384" cy="27432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45936" y="318211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Intérêts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123176" y="3163824"/>
            <a:ext cx="786384" cy="27432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50608" y="318211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Amortis.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927848" y="3163824"/>
            <a:ext cx="786384" cy="27432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55280" y="318211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Annuité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09160" y="3456432"/>
            <a:ext cx="786384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36592" y="347472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513832" y="3456432"/>
            <a:ext cx="786384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41264" y="347472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1 000 000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318504" y="3456432"/>
            <a:ext cx="786384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45936" y="347472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100 000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123176" y="3456432"/>
            <a:ext cx="786384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50608" y="347472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200 000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927848" y="3456432"/>
            <a:ext cx="786384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955280" y="347472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300 000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709160" y="3730752"/>
            <a:ext cx="786384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36592" y="3749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513832" y="3730752"/>
            <a:ext cx="786384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541264" y="3749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800 000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318504" y="3730752"/>
            <a:ext cx="786384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45936" y="3749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80 000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123176" y="3730752"/>
            <a:ext cx="786384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50608" y="3749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200 000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927848" y="3730752"/>
            <a:ext cx="786384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955280" y="3749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280 000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709160" y="4005072"/>
            <a:ext cx="786384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36592" y="402336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513832" y="4005072"/>
            <a:ext cx="786384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541264" y="402336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600 000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318504" y="4005072"/>
            <a:ext cx="786384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45936" y="402336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60 000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123176" y="4005072"/>
            <a:ext cx="786384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150608" y="402336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200 000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7927848" y="4005072"/>
            <a:ext cx="786384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955280" y="402336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260 000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709160" y="4279392"/>
            <a:ext cx="786384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736592" y="42976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5513832" y="4279392"/>
            <a:ext cx="786384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541264" y="42976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400 000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6318504" y="4279392"/>
            <a:ext cx="786384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345936" y="42976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40 000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7123176" y="4279392"/>
            <a:ext cx="786384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150608" y="42976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200 000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7927848" y="4279392"/>
            <a:ext cx="786384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955280" y="42976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240 000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709160" y="4553712"/>
            <a:ext cx="786384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736592" y="457200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5513832" y="4553712"/>
            <a:ext cx="786384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541264" y="457200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200 000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6318504" y="4553712"/>
            <a:ext cx="786384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345936" y="457200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20 000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7123176" y="4553712"/>
            <a:ext cx="786384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150608" y="457200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200 000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7927848" y="4553712"/>
            <a:ext cx="786384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955280" y="457200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220 000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926080"/>
            <a:ext cx="5029200" cy="5029200"/>
          </a:xfrm>
          <a:prstGeom prst="ellipse">
            <a:avLst/>
          </a:prstGeom>
          <a:solidFill>
            <a:srgbClr val="0D9488">
              <a:alpha val="14000"/>
            </a:srgbClr>
          </a:solidFill>
          <a:ln w="12700">
            <a:solidFill>
              <a:srgbClr val="0D9488">
                <a:alpha val="1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&amp; CONCLUSION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L'équipe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16052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25272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Laurent MASSOYA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49047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Co-fondateur, L2 SID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792224"/>
            <a:ext cx="416052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85623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Ndeye Awa NIANE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093976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Co-fondatrice, L2 SID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395728"/>
            <a:ext cx="416052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45973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Développeur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697480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plateforme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999232"/>
            <a:ext cx="416052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306324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Responsable Marketing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300984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&amp; publicité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602736"/>
            <a:ext cx="416052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366674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Conseiller d'orientation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3904488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 &amp; tests RIASEC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80467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de revenus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09160" y="1188720"/>
            <a:ext cx="416052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129844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Offre Premium : 10 000 – 150 000 FCFA/an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1792224"/>
            <a:ext cx="416052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190195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Partenariats avec écoles &amp; universités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2395728"/>
            <a:ext cx="416052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46320" y="2505456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Publicités éducatives ciblées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2999232"/>
            <a:ext cx="416052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46320" y="310896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Commission coaching : approx. 10% par session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251960"/>
            <a:ext cx="841248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2920" y="4315968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NextStep — Une solution stratégique pour réduire les erreurs d'orientation et développer le capital humain en Afrique.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2026-05-21T11:44:04Z</dcterms:created>
  <dcterms:modified xsi:type="dcterms:W3CDTF">2026-05-21T11:44:04Z</dcterms:modified>
</cp:coreProperties>
</file>